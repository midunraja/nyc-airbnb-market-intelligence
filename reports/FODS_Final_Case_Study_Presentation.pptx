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457200" cy="457200"/>
          </a:xfrm>
          <a:prstGeom prst="roundRect">
            <a:avLst/>
          </a:prstGeom>
          <a:solidFill>
            <a:srgbClr val="FF5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FF5A5F"/>
                </a:solidFill>
              </a:rPr>
              <a:t>23CSE351 — FOUNDATIONS OF DATA SCIENCE (FODS) FINAL CASE STUDY</a:t>
            </a:r>
          </a:p>
          <a:p>
            <a:pPr>
              <a:spcAft>
                <a:spcPts val="800"/>
              </a:spcAft>
            </a:pPr>
            <a:r>
              <a:rPr sz="3600" b="1">
                <a:solidFill>
                  <a:srgbClr val="FFFFFF"/>
                </a:solidFill>
              </a:rPr>
              <a:t>NYC Airbnb Market Intelligence</a:t>
            </a:r>
          </a:p>
          <a:p>
            <a:r>
              <a:rPr sz="1500">
                <a:solidFill>
                  <a:srgbClr val="D6D3D1"/>
                </a:solidFill>
              </a:rPr>
              <a:t>Exploring Listing Prices, Room Types, Neighbourhood Patterns and Availability in New York City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292524"/>
          </a:solidFill>
          <a:ln>
            <a:solidFill>
              <a:srgbClr val="4440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57200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1200">
                <a:solidFill>
                  <a:srgbClr val="FF5A5F"/>
                </a:solidFill>
              </a:rPr>
              <a:t>Candidate Name: </a:t>
            </a:r>
            <a:r>
              <a:rPr sz="1200">
                <a:solidFill>
                  <a:srgbClr val="FFFFFF"/>
                </a:solidFill>
              </a:rPr>
              <a:t>K MIDUNRAJA, V ROHAN REDDY, VARUN SHANKAR, SANTHOSH V     |     Register Number: </a:t>
            </a:r>
            <a:r>
              <a:rPr b="1" sz="1200">
                <a:solidFill>
                  <a:srgbClr val="FF5A5F"/>
                </a:solidFill>
              </a:rPr>
              <a:t>CB.SC.U4CSE24324, CB.SC.U4CSE24359, CB.SC.U4CSE24345, CB.SC.U4CSE24047</a:t>
            </a:r>
          </a:p>
          <a:p>
            <a:pPr>
              <a:spcAft>
                <a:spcPts val="400"/>
              </a:spcAft>
            </a:pPr>
            <a:r>
              <a:rPr sz="1100">
                <a:solidFill>
                  <a:srgbClr val="D6D3D1"/>
                </a:solidFill>
              </a:rPr>
              <a:t>Department: Department of Computer Science &amp; Engineering</a:t>
            </a:r>
          </a:p>
          <a:p>
            <a:r>
              <a:rPr sz="1050">
                <a:solidFill>
                  <a:srgbClr val="A8A29E"/>
                </a:solidFill>
              </a:rPr>
              <a:t>Deliverables: Complete Python Notebook, Case Study Report (.docx), 12-Slide PPT, Tableau Dataset &amp; Guide, Full-Stack Bonus 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02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Problem Statement &amp; Research Objectives</a:t>
            </a:r>
          </a:p>
          <a:p>
            <a:r>
              <a:rPr sz="1100">
                <a:solidFill>
                  <a:srgbClr val="64748B"/>
                </a:solidFill>
              </a:rPr>
              <a:t>Understanding the socio-economic dynamics and pricing mechanisms of NYC short-term rentals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/>
              <a:t>The NYC short-term rental ecosystem represents a complex intersection of hospitality, real estate economics, and municipal regulation. Potential guests struggle to evaluate fair pricing across diverse micro-markets, while hosts seek optimal nightly yields.</a:t>
            </a:r>
          </a:p>
          <a:p>
            <a:pPr>
              <a:spcAft>
                <a:spcPts val="800"/>
              </a:spcAft>
            </a:pPr>
            <a:r>
              <a:rPr b="1" sz="1100">
                <a:solidFill>
                  <a:srgbClr val="FF5A5F"/>
                </a:solidFill>
              </a:rPr>
              <a:t>Why ML-only is insufficient: </a:t>
            </a:r>
            <a:r>
              <a:rPr sz="1050"/>
              <a:t>An opaque predictive model fails to explain underlying structural drivers. Foundations of Data Science requires rigorous exploratory data analysis, hypothesis testing, and mathematical validation.</a:t>
            </a:r>
          </a:p>
          <a:p>
            <a:r>
              <a:rPr sz="1050"/>
              <a:t>Scope: 48,870 verified 2019 listings across all 5 boroughs and 221 discrete micro-neighbourhoods.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Core Research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1. Distribution &amp; Variance Normalization: </a:t>
            </a:r>
            <a:r>
              <a:rPr sz="950">
                <a:solidFill>
                  <a:srgbClr val="64748B"/>
                </a:solidFill>
              </a:rPr>
              <a:t>Evaluate raw price skewness (19.12) and stabilize variance using log1p transforms.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2. Geographic Submarket Disparities: </a:t>
            </a:r>
            <a:r>
              <a:rPr sz="950">
                <a:solidFill>
                  <a:srgbClr val="64748B"/>
                </a:solidFill>
              </a:rPr>
              <a:t>Quantify price differences across all 5 boroughs and filter top neighbourhoods (n &gt;= 25).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3. Exclusivity &amp; Observational A/B Testing: </a:t>
            </a:r>
            <a:r>
              <a:rPr sz="950">
                <a:solidFill>
                  <a:srgbClr val="64748B"/>
                </a:solidFill>
              </a:rPr>
              <a:t>Test structural price divergence between Entire home and Private room cohorts.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4. Regulatory Compliance Signatures: </a:t>
            </a:r>
            <a:r>
              <a:rPr sz="950">
                <a:solidFill>
                  <a:srgbClr val="64748B"/>
                </a:solidFill>
              </a:rPr>
              <a:t>Investigate minimum stay patterns reflecting NYC's Multiple Dwelling Law (MDL &gt;= 30 nights).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5. FODS Matrix &amp; Probability Concepts: </a:t>
            </a:r>
            <a:r>
              <a:rPr sz="950">
                <a:solidFill>
                  <a:srgbClr val="64748B"/>
                </a:solidFill>
              </a:rPr>
              <a:t>Verify algebraic covariance (1/(n-1))*X^T*X, normal budget CDF, and Central Limit Theorem.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6. Machine Learning Price Valuation: </a:t>
            </a:r>
            <a:r>
              <a:rPr sz="950">
                <a:solidFill>
                  <a:srgbClr val="64748B"/>
                </a:solidFill>
              </a:rPr>
              <a:t>Train held-out Linear, Ridge, and Random Forest models with zero data leakage.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03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Dataset Description: Architecture &amp; Provenance</a:t>
            </a:r>
          </a:p>
          <a:p>
            <a:r>
              <a:rPr sz="1100">
                <a:solidFill>
                  <a:srgbClr val="64748B"/>
                </a:solidFill>
              </a:rPr>
              <a:t>Overview of the New York City Airbnb Open Data (2019) corpus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22677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TOTAL RAW LISTINGS</a:t>
            </a:r>
          </a:p>
          <a:p>
            <a:r>
              <a:rPr sz="1800" b="1">
                <a:solidFill>
                  <a:srgbClr val="222222"/>
                </a:solidFill>
              </a:rPr>
              <a:t>48,895</a:t>
            </a:r>
          </a:p>
          <a:p>
            <a:r>
              <a:rPr sz="850">
                <a:solidFill>
                  <a:srgbClr val="64748B"/>
                </a:solidFill>
              </a:rPr>
              <a:t>Inside Airbnb Source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56432" y="164592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93592" y="1737360"/>
            <a:ext cx="22677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CLEANED OBSERVATIONS</a:t>
            </a:r>
          </a:p>
          <a:p>
            <a:r>
              <a:rPr sz="1800" b="1">
                <a:solidFill>
                  <a:srgbClr val="FF5A5F"/>
                </a:solidFill>
              </a:rPr>
              <a:t>48,870</a:t>
            </a:r>
          </a:p>
          <a:p>
            <a:r>
              <a:rPr sz="850">
                <a:solidFill>
                  <a:srgbClr val="64748B"/>
                </a:solidFill>
              </a:rPr>
              <a:t>25 invalid rows removed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18504" y="1737360"/>
            <a:ext cx="22677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TOTAL NYC BOROUGHS</a:t>
            </a:r>
          </a:p>
          <a:p>
            <a:r>
              <a:rPr sz="1800" b="1">
                <a:solidFill>
                  <a:srgbClr val="222222"/>
                </a:solidFill>
              </a:rPr>
              <a:t>5 Submarkets</a:t>
            </a:r>
          </a:p>
          <a:p>
            <a:r>
              <a:rPr sz="850">
                <a:solidFill>
                  <a:srgbClr val="64748B"/>
                </a:solidFill>
              </a:rPr>
              <a:t>Manhattan to Staten Island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06256" y="1645920"/>
            <a:ext cx="2542032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43416" y="1737360"/>
            <a:ext cx="2267712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64748B"/>
                </a:solidFill>
              </a:rPr>
              <a:t>MICRO-NEIGHBOURHOODS</a:t>
            </a:r>
          </a:p>
          <a:p>
            <a:r>
              <a:rPr sz="1800" b="1">
                <a:solidFill>
                  <a:srgbClr val="222222"/>
                </a:solidFill>
              </a:rPr>
              <a:t>221 Areas</a:t>
            </a:r>
          </a:p>
          <a:p>
            <a:r>
              <a:rPr sz="850">
                <a:solidFill>
                  <a:srgbClr val="64748B"/>
                </a:solidFill>
              </a:rPr>
              <a:t>High spatial resolution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08960"/>
            <a:ext cx="10728655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Dataset Architecture &amp; Data Dictionary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5760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• Geospatial Coordinates: latitude &amp; longitude (WGS84 decimal degrees) capturing exact listing location across NYC.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• Categorical Classifiers: neighbourhood_group (5 boroughs) and room_type (Entire home/apt, Private room, Shared room).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• Target Pricing Measures: price (advertised nightly USD), price_capped (99th pct cap at $799), and log_price (ln(1 + price_capped)).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• Booking Policies &amp; Availability: minimum_nights (required stay duration) and availability_365 (open booking days/year).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• Host Portfolio Concentration: calculated_host_listings_count (binned into Single Property, Multi-Listing, and Commercial &gt;5).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222222"/>
                </a:solidFill>
              </a:rPr>
              <a:t>• Temporal &amp; Regulatory Context: Represents 2019 pre-COVID baseline. Does not describe post-2023 Local Law 18 restrictions.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04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Data Preprocessing: Sanitization &amp; Normalization</a:t>
            </a:r>
          </a:p>
          <a:p>
            <a:r>
              <a:rPr sz="1100">
                <a:solidFill>
                  <a:srgbClr val="64748B"/>
                </a:solidFill>
              </a:rPr>
              <a:t>Systematic 6-step cleaning pipeline ensuring data integrity without arbitrary data deletion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Step 1: Review Imputation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4748B"/>
                </a:solidFill>
              </a:rPr>
              <a:t>10,052 NaNs in reviews_per_month imputed with 0.0, perfectly aligning with listings with 0 cumulative reviews. 16 missing names filled with 'Unknown'.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85032" y="1828800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Step 2: Anomaly Filtering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93592" y="21488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4748B"/>
                </a:solidFill>
              </a:rPr>
              <a:t>Eliminated 11 invalid non-paying records with price == 0 and 14 erroneous multi-year reservation inputs (minimum_nights &gt; 365 days).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828800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Step 3: 99th-Pct Winsorization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21488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4748B"/>
                </a:solidFill>
              </a:rPr>
              <a:t>Raw prices showed severe kurtosis (585.52). Established 99th percentile cap ($799), cutting variance in half (std: $240 to $122) while preserving 99% of exact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06256" y="1645920"/>
            <a:ext cx="2542032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828800"/>
            <a:ext cx="2084831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Step 4: Log Normalization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2148840"/>
            <a:ext cx="226771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4748B"/>
                </a:solidFill>
              </a:rPr>
              <a:t>Formulated log_price = ln(1 + price_capped). Reduced skewness from 19.12 raw to 0.37, satisfying Gaussian assumptions for linear regression.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10728655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148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Empirical Preprocessing Impact: Before vs After</a:t>
            </a:r>
          </a:p>
        </p:txBody>
      </p:sp>
      <p:pic>
        <p:nvPicPr>
          <p:cNvPr id="18" name="Picture 17" descr="q16_outlier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4297680"/>
            <a:ext cx="5669280" cy="154139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49440" y="4297680"/>
            <a:ext cx="42976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b="1">
                <a:solidFill>
                  <a:srgbClr val="222222"/>
                </a:solidFill>
              </a:rPr>
              <a:t>• Raw Standard Deviation: </a:t>
            </a:r>
            <a:r>
              <a:rPr sz="1000">
                <a:solidFill>
                  <a:srgbClr val="222222"/>
                </a:solidFill>
              </a:rPr>
              <a:t>$240.20 -&gt; Capped Std: $121.94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22222"/>
                </a:solidFill>
              </a:rPr>
              <a:t>• Raw Skewness: </a:t>
            </a:r>
            <a:r>
              <a:rPr sz="1000">
                <a:solidFill>
                  <a:srgbClr val="222222"/>
                </a:solidFill>
              </a:rPr>
              <a:t>19.12 -&gt; Log Skewness: 0.37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FF5A5F"/>
                </a:solidFill>
              </a:rPr>
              <a:t>• Median Price Preserved: </a:t>
            </a:r>
            <a:r>
              <a:rPr sz="1000">
                <a:solidFill>
                  <a:srgbClr val="222222"/>
                </a:solidFill>
              </a:rPr>
              <a:t>Exactly $106.00 in both</a:t>
            </a:r>
          </a:p>
          <a:p>
            <a:pPr>
              <a:spcAft>
                <a:spcPts val="400"/>
              </a:spcAft>
            </a:pPr>
            <a:r>
              <a:rPr sz="1000" b="1">
                <a:solidFill>
                  <a:srgbClr val="222222"/>
                </a:solidFill>
              </a:rPr>
              <a:t>• Cleaned Record Count: </a:t>
            </a:r>
            <a:r>
              <a:rPr sz="1000">
                <a:solidFill>
                  <a:srgbClr val="222222"/>
                </a:solidFill>
              </a:rPr>
              <a:t>48,870 valid observations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05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Exploratory Data Analysis: Key Visualizations</a:t>
            </a:r>
          </a:p>
          <a:p>
            <a:r>
              <a:rPr sz="1100">
                <a:solidFill>
                  <a:srgbClr val="64748B"/>
                </a:solidFill>
              </a:rPr>
              <a:t>Investigating price distributions, borough hierarchies, and room exclusivity patterns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Borough Nightly Rate Disparities</a:t>
            </a:r>
          </a:p>
        </p:txBody>
      </p:sp>
      <p:pic>
        <p:nvPicPr>
          <p:cNvPr id="6" name="Picture 5" descr="q2_borough_p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4846320" cy="16870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120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/>
              <a:t>Key Finding: Manhattan exhibits the highest median nightly rate ($150), commanding a 66.7% premium over Brooklyn ($90) and 130.8% over Bronx ($65).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Room Exclusivity &amp; Privacy Premium</a:t>
            </a:r>
          </a:p>
        </p:txBody>
      </p:sp>
      <p:pic>
        <p:nvPicPr>
          <p:cNvPr id="10" name="Picture 9" descr="q3_room_type_p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94560"/>
            <a:ext cx="4846320" cy="272605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5120640"/>
            <a:ext cx="4846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/>
              <a:t>Key Finding: Entire homes command an average of $198.35/night vs $86.03 for private rooms (2.31x premium). Privacy is the strongest non-spatial price driver.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06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Statistical Analysis: Hypothesis Testing &amp; A/B Comparison</a:t>
            </a:r>
          </a:p>
          <a:p>
            <a:r>
              <a:rPr sz="1100">
                <a:solidFill>
                  <a:srgbClr val="64748B"/>
                </a:solidFill>
              </a:rPr>
              <a:t>Rigorous inferential evaluation carrying 8 marks on the official faculty evaluation rubric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865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585216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222222"/>
                          </a:solidFill>
                        </a:rPr>
                        <a:t>Test / Research Question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222222"/>
                          </a:solidFill>
                        </a:rPr>
                        <a:t>Statistical Method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222222"/>
                          </a:solidFill>
                        </a:rPr>
                        <a:t>Test Statistic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222222"/>
                          </a:solidFill>
                        </a:rPr>
                        <a:t>p-value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222222"/>
                          </a:solidFill>
                        </a:rPr>
                        <a:t>Effect Size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222222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50"/>
                        <a:t>Test 1: Entire Home vs Private Room (A/B)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Welch's t-test / Mann-Whitney 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t = 175.88, U = 503,265,710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&lt; 1e-300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Cohen's d = 1.61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0B981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50"/>
                        <a:t>Test 2: Price Variance Across 5 Boroughs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One-Way ANOVA / Kruskal-Wallis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F = 1,928.01, H = 7,022.32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&lt; 1e-300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Eta-sq = 0.136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0B981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50"/>
                        <a:t>Test 3: Borough and Room Type Association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Chi-Square (chi^2) Independence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chi^2 = 1,557.95 (df=8)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&lt; 1e-300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Cramer's V = 0.126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0B981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r>
                        <a:rPr sz="950"/>
                        <a:t>Test 4: Availability-Price Correlation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Pearson r / Spearman rho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 = 0.0978, rho = 0.0862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4.03e-104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/>
                        <a:t>R^2 = 0.0096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0B981"/>
                          </a:solidFill>
                        </a:rPr>
                        <a:t>Reject H0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31520" y="484632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50292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A/B Testing Framework &amp; Observational Limitation Clarification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30352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FF5A5F"/>
                </a:solidFill>
              </a:rPr>
              <a:t>Observational vs Experimental A/B Testing: </a:t>
            </a:r>
            <a:r>
              <a:rPr sz="950"/>
              <a:t>Test 1 compares Group A (Entire home, n=25,398) against Group B (Private room, n=22,315). This constitutes an observational comparison rather than a randomized controlled trial. Extreme p-values (&lt; 1e-300) confirm statistical divergence, while Cohen's d (1.61) confirms large practical magnitude.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07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Supporting Machine Learning Model: Price Prediction</a:t>
            </a:r>
          </a:p>
          <a:p>
            <a:r>
              <a:rPr sz="1100">
                <a:solidFill>
                  <a:srgbClr val="64748B"/>
                </a:solidFill>
              </a:rPr>
              <a:t>Supervised regression predicting nightly rates with 80:20 train-test split and zero data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Supervised Regression Benchmark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000"/>
              <a:t>Target: </a:t>
            </a:r>
            <a:r>
              <a:rPr sz="1000"/>
              <a:t>log_price = ln(1 + price_capped) to stabilize residual variance.
</a:t>
            </a:r>
            <a:r>
              <a:rPr b="1" sz="1000"/>
              <a:t>Split: </a:t>
            </a:r>
            <a:r>
              <a:rPr sz="1000"/>
              <a:t>39,096 train listings (80%), 9,774 held-out test listings (20%).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• Linear Regression Baseline: </a:t>
            </a:r>
            <a:r>
              <a:rPr sz="950"/>
              <a:t>R² = 0.5383 | Log MAE = 0.3434 | Dollar MAE = $53.01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• Ridge Regression (alpha=10): </a:t>
            </a:r>
            <a:r>
              <a:rPr sz="950"/>
              <a:t>R² = 0.5383 | Log MAE = 0.3434 | Dollar MAE = $53.01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FF5A5F"/>
                </a:solidFill>
              </a:rPr>
              <a:t>• Random Forest Regressor: </a:t>
            </a:r>
            <a:r>
              <a:rPr sz="950"/>
              <a:t>R² = 0.6335 | Log MAE = 0.2999 | Dollar MAE = $47.48 (Selected)</a:t>
            </a:r>
          </a:p>
          <a:p>
            <a:pPr>
              <a:spcAft>
                <a:spcPts val="600"/>
              </a:spcAft>
            </a:pPr>
            <a:r>
              <a:rPr b="1" sz="1000">
                <a:solidFill>
                  <a:srgbClr val="222222"/>
                </a:solidFill>
              </a:rPr>
              <a:t>• Gradient Boosting Regressor: </a:t>
            </a:r>
            <a:r>
              <a:rPr sz="950"/>
              <a:t>R² = 0.6307 | Log MAE = 0.3044 | Dollar MAE = $48.19 (Benchmark)</a:t>
            </a:r>
          </a:p>
          <a:p>
            <a:r>
              <a:rPr sz="950" b="1"/>
              <a:t>Top Feature Drivers (Permutation): Private room (0.604), Distance to Midtown (0.205), Longitude (0.138).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Diagnostic Evaluation: Actual vs Predicted &amp; Residuals</a:t>
            </a:r>
          </a:p>
        </p:txBody>
      </p:sp>
      <p:pic>
        <p:nvPicPr>
          <p:cNvPr id="9" name="Picture 8" descr="ml_actual_vs_predicted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194560"/>
            <a:ext cx="4846320" cy="186396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08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Visual Analytics: Tableau Dashboard &amp; Full-Stack Application</a:t>
            </a:r>
          </a:p>
          <a:p>
            <a:r>
              <a:rPr sz="1100">
                <a:solidFill>
                  <a:srgbClr val="64748B"/>
                </a:solidFill>
              </a:rPr>
              <a:t>Complementary visual deliverables fulfilling Tableau requirements and bonus web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Official Tableau Deliverable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FF5A5F"/>
                </a:solidFill>
              </a:rPr>
              <a:t>Tableau Deliverable Artifacts:</a:t>
            </a:r>
          </a:p>
          <a:p>
            <a:pPr>
              <a:spcAft>
                <a:spcPts val="500"/>
              </a:spcAft>
            </a:pPr>
            <a:r>
              <a:rPr b="1" sz="1000"/>
              <a:t>• Curated Dataset: </a:t>
            </a:r>
            <a:r>
              <a:rPr sz="950">
                <a:solidFill>
                  <a:srgbClr val="64748B"/>
                </a:solidFill>
              </a:rPr>
              <a:t>NYC_Airbnb_Tableau_Data.csv (48,870 rows, zero null values, clean headers).</a:t>
            </a:r>
          </a:p>
          <a:p>
            <a:pPr>
              <a:spcAft>
                <a:spcPts val="500"/>
              </a:spcAft>
            </a:pPr>
            <a:r>
              <a:rPr b="1" sz="1000"/>
              <a:t>• Workbook File: </a:t>
            </a:r>
            <a:r>
              <a:rPr sz="950">
                <a:solidFill>
                  <a:srgbClr val="64748B"/>
                </a:solidFill>
              </a:rPr>
              <a:t>NYC_Airbnb_Market_Insights_2019.twb native Tableau XML workbook.</a:t>
            </a:r>
          </a:p>
          <a:p>
            <a:pPr>
              <a:spcAft>
                <a:spcPts val="500"/>
              </a:spcAft>
            </a:pPr>
            <a:r>
              <a:rPr b="1" sz="1000"/>
              <a:t>• Step-by-Step Guide: </a:t>
            </a:r>
            <a:r>
              <a:rPr sz="950">
                <a:solidFill>
                  <a:srgbClr val="64748B"/>
                </a:solidFill>
              </a:rPr>
              <a:t>TABLEAU_DASHBOARD_GUIDE.md containing exact click-by-click instructions.</a:t>
            </a:r>
          </a:p>
          <a:p>
            <a:pPr>
              <a:spcAft>
                <a:spcPts val="500"/>
              </a:spcAft>
            </a:pPr>
            <a:r>
              <a:rPr b="1" sz="1000"/>
              <a:t>• KPI Executive Cards: </a:t>
            </a:r>
            <a:r>
              <a:rPr sz="950">
                <a:solidFill>
                  <a:srgbClr val="64748B"/>
                </a:solidFill>
              </a:rPr>
              <a:t>48,870 Valid Listings, $106 Median Price, $144 Average Price, 113d Availability.</a:t>
            </a:r>
          </a:p>
          <a:p>
            <a:pPr>
              <a:spcAft>
                <a:spcPts val="500"/>
              </a:spcAft>
            </a:pPr>
            <a:r>
              <a:rPr b="1" sz="1000"/>
              <a:t>• Visualizations: </a:t>
            </a:r>
            <a:r>
              <a:rPr sz="950">
                <a:solidFill>
                  <a:srgbClr val="64748B"/>
                </a:solidFill>
              </a:rPr>
              <a:t>Borough price ranking, Room exclusivity breakdown, Top 10 neighbourhoods (n &gt;= 25), Availability scatter plot with trend 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Interactive Full-Stack Web Application (Bonus)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00A699"/>
                </a:solidFill>
              </a:rPr>
              <a:t>Full-Stack Platform Architecture:</a:t>
            </a:r>
          </a:p>
          <a:p>
            <a:pPr>
              <a:spcAft>
                <a:spcPts val="500"/>
              </a:spcAft>
            </a:pPr>
            <a:r>
              <a:rPr b="1" sz="1000"/>
              <a:t>• Frontend Stack: </a:t>
            </a:r>
            <a:r>
              <a:rPr sz="950">
                <a:solidFill>
                  <a:srgbClr val="64748B"/>
                </a:solidFill>
              </a:rPr>
              <a:t>React 19, Vite, Tailwind CSS, Recharts, Lucide Icons.</a:t>
            </a:r>
          </a:p>
          <a:p>
            <a:pPr>
              <a:spcAft>
                <a:spcPts val="500"/>
              </a:spcAft>
            </a:pPr>
            <a:r>
              <a:rPr b="1" sz="1000"/>
              <a:t>• Backend API: </a:t>
            </a:r>
            <a:r>
              <a:rPr sz="950">
                <a:solidFill>
                  <a:srgbClr val="64748B"/>
                </a:solidFill>
              </a:rPr>
              <a:t>Python Flask REST API with 12 endpoints (/api/summary, /api/predict, etc.).</a:t>
            </a:r>
          </a:p>
          <a:p>
            <a:pPr>
              <a:spcAft>
                <a:spcPts val="500"/>
              </a:spcAft>
            </a:pPr>
            <a:r>
              <a:rPr b="1" sz="1000"/>
              <a:t>• Interactive Explorer: </a:t>
            </a:r>
            <a:r>
              <a:rPr sz="950">
                <a:solidFill>
                  <a:srgbClr val="64748B"/>
                </a:solidFill>
              </a:rPr>
              <a:t>Search, filter by borough &amp; room type, price sliders, CSV export.</a:t>
            </a:r>
          </a:p>
          <a:p>
            <a:pPr>
              <a:spcAft>
                <a:spcPts val="500"/>
              </a:spcAft>
            </a:pPr>
            <a:r>
              <a:rPr b="1" sz="1000"/>
              <a:t>• Predictive Calculator: </a:t>
            </a:r>
            <a:r>
              <a:rPr sz="950">
                <a:solidFill>
                  <a:srgbClr val="64748B"/>
                </a:solidFill>
              </a:rPr>
              <a:t>Real-time pricing valuation calling trained Random Forest model with 90% CI.</a:t>
            </a:r>
          </a:p>
          <a:p>
            <a:pPr>
              <a:spcAft>
                <a:spcPts val="500"/>
              </a:spcAft>
            </a:pPr>
            <a:r>
              <a:rPr b="1" sz="1000"/>
              <a:t>• Market Insight Explorer: </a:t>
            </a:r>
            <a:r>
              <a:rPr sz="950">
                <a:solidFill>
                  <a:srgbClr val="64748B"/>
                </a:solidFill>
              </a:rPr>
              <a:t>Side-by-side comparative tool between any two boroughs or room types.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09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Key Findings &amp; Analytical Interpretations</a:t>
            </a:r>
          </a:p>
          <a:p>
            <a:r>
              <a:rPr sz="1100">
                <a:solidFill>
                  <a:srgbClr val="64748B"/>
                </a:solidFill>
              </a:rPr>
              <a:t>Strategic insights synthesized from 18 research questions and inferential evaluations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1. Price Distribution is Fundamentally Log-Normal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Raw prices exhibit severe skewness (19.12) with arithmetic mean ($152.76) overstating the true median ($106.00) by 44%. Decision-makers must evaluate median benchmarks rather than mean values.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64592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82880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2. Spatial Privacy Commands Highest Non-Geographic Premium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219456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Entire homes average $198.35/night vs $86.03 for private rooms (2.31x premium). Welch's t-test produces a massive Cohen's d of 1.61, confirming room exclusivity as the dominant non-spatial price driver.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20624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3. Regulatory Compliance Signature (NYC MDL Law)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5720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9.2% of listings mandate minimum stays of &gt;= 30 nights. Hosts strategically utilize 30-night thresholds to operate legally outside NYC's Multiple Dwelling Law short-term rental restrictions.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4023360"/>
            <a:ext cx="525780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4206240"/>
            <a:ext cx="4800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4. Commercial Concentration in a Home-Sharing Market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4572000"/>
            <a:ext cx="4892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4748B"/>
                </a:solidFill>
              </a:rPr>
              <a:t>While 66.1% of hosts are single-property operators, 9.8% belong to commercial operators holding &gt;5 listings (up to 327 listings for one entity), commanding nearly a third of all NYC inventory.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10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Conclusions &amp; Critical Limitations</a:t>
            </a:r>
          </a:p>
          <a:p>
            <a:r>
              <a:rPr sz="1100">
                <a:solidFill>
                  <a:srgbClr val="64748B"/>
                </a:solidFill>
              </a:rPr>
              <a:t>Methodological boundaries, temporal constraints, and evidence-based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>
                <a:solidFill>
                  <a:srgbClr val="222222"/>
                </a:solidFill>
              </a:rPr>
              <a:t>• Successfully satisfied all FODS 23CSE351 case study requirements connecting preprocessing, EDA, matrix algebra, probability, inferential testing, and regression.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22222"/>
                </a:solidFill>
              </a:rPr>
              <a:t>• Proved algebraic equivalence of Gram covariance (1/(n-1))*X^T*X with empirical correlation (Frobenius error = 5.48e-05).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22222"/>
                </a:solidFill>
              </a:rPr>
              <a:t>• Validated Central Limit Theorem: sample means from heavily skewed price data converge to theoretical Gaussian standard errors for n &gt;= 30.</a:t>
            </a:r>
          </a:p>
          <a:p>
            <a:pPr>
              <a:spcAft>
                <a:spcPts val="800"/>
              </a:spcAft>
            </a:pPr>
            <a:r>
              <a:rPr sz="1050">
                <a:solidFill>
                  <a:srgbClr val="222222"/>
                </a:solidFill>
              </a:rPr>
              <a:t>• Random Forest Regressor achieves R² = 0.6335 with $47.48 MAE on held-out test data (Gradient Boosting benchmark R² = 0.6307 / $48.19).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Methodological &amp; Temporal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FF5A5F"/>
                </a:solidFill>
              </a:rPr>
              <a:t>Temporal Limitation (2019): </a:t>
            </a:r>
            <a:r>
              <a:rPr sz="1000">
                <a:solidFill>
                  <a:srgbClr val="64748B"/>
                </a:solidFill>
              </a:rPr>
              <a:t>Represents market conditions prior to COVID-19 and prior to NYC Local Law 18 (2023), which banned unhosted short-term rentals under 30 days. Cannot be cited as current market state.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A5F"/>
                </a:solidFill>
              </a:rPr>
              <a:t>Observational Nature: </a:t>
            </a:r>
            <a:r>
              <a:rPr sz="1000">
                <a:solidFill>
                  <a:srgbClr val="64748B"/>
                </a:solidFill>
              </a:rPr>
              <a:t>Hypothesis tests evaluate observational disparities rather than randomized experiments; omitted variable bias may influence estimates.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A5F"/>
                </a:solidFill>
              </a:rPr>
              <a:t>Omitted Hedonic Variables: </a:t>
            </a:r>
            <a:r>
              <a:rPr sz="1000">
                <a:solidFill>
                  <a:srgbClr val="64748B"/>
                </a:solidFill>
              </a:rPr>
              <a:t>Dataset lacks square footage, bathroom count, interior architectural quality, and specific amenities (air conditioning, elevator, balcony).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FF5A5F"/>
                </a:solidFill>
              </a:rPr>
              <a:t>Static Cross-Section: </a:t>
            </a:r>
            <a:r>
              <a:rPr sz="1000">
                <a:solidFill>
                  <a:srgbClr val="64748B"/>
                </a:solidFill>
              </a:rPr>
              <a:t>Represents a single annual snapshot without longitudinal booking price histories.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11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Future Enhancements &amp; Engineering Roadmap</a:t>
            </a:r>
          </a:p>
          <a:p>
            <a:r>
              <a:rPr sz="1100">
                <a:solidFill>
                  <a:srgbClr val="64748B"/>
                </a:solidFill>
              </a:rPr>
              <a:t>Extending the analytical and full-stack architecture for enterprise deployment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F5A5F"/>
                </a:solidFill>
              </a:rPr>
              <a:t>1. Integration of NLP Review Sentiment Analysis</a:t>
            </a:r>
          </a:p>
          <a:p>
            <a:r>
              <a:rPr sz="950">
                <a:solidFill>
                  <a:srgbClr val="64748B"/>
                </a:solidFill>
              </a:rPr>
              <a:t>Incorporate Natural Language Processing (VADER, RoBERTa) on guest review text to extract sentiment polarity scores, evaluating whether positive host sentiment commands a pricing premium.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926079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F5A5F"/>
                </a:solidFill>
              </a:rPr>
              <a:t>2. Spatial Transit Accessibility Modeling</a:t>
            </a:r>
          </a:p>
          <a:p>
            <a:r>
              <a:rPr sz="950">
                <a:solidFill>
                  <a:srgbClr val="64748B"/>
                </a:solidFill>
              </a:rPr>
              <a:t>Merge NYC Subway (MTA) GTFS station coordinates to calculate walk-times to nearest subway hubs as an explicit distance-decay feature in hedonic pricing models.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69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F5A5F"/>
                </a:solidFill>
              </a:rPr>
              <a:t>3. Longitudinal Multi-Year Tracking (Post-Local Law 18)</a:t>
            </a:r>
          </a:p>
          <a:p>
            <a:r>
              <a:rPr sz="950">
                <a:solidFill>
                  <a:srgbClr val="64748B"/>
                </a:solidFill>
              </a:rPr>
              <a:t>Ingest 2023-2026 Inside Airbnb scrapes to conduct a Difference-in-Differences (DiD) econometric analysis measuring the impact of NYC Local Law 18 on outer-borough supply.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100">
                <a:solidFill>
                  <a:srgbClr val="FF5A5F"/>
                </a:solidFill>
              </a:rPr>
              <a:t>4. Full-Stack Production Cloud Deployment</a:t>
            </a:r>
          </a:p>
          <a:p>
            <a:r>
              <a:rPr sz="950">
                <a:solidFill>
                  <a:srgbClr val="64748B"/>
                </a:solidFill>
              </a:rPr>
              <a:t>Containerize Python Flask backend and Vite React frontend using Docker for deployment on cloud application platforms with automated CI/CD pipelines.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950" b="1">
                <a:solidFill>
                  <a:srgbClr val="FF5A5F"/>
                </a:solidFill>
              </a:rPr>
              <a:t>SLIDE 12 / 12  |  23CSE351 — FOUNDATIONS OF DATA SCIENCE</a:t>
            </a:r>
          </a:p>
          <a:p>
            <a:pPr>
              <a:spcAft>
                <a:spcPts val="200"/>
              </a:spcAft>
            </a:pPr>
            <a:r>
              <a:rPr sz="2000" b="1">
                <a:solidFill>
                  <a:srgbClr val="222222"/>
                </a:solidFill>
              </a:rPr>
              <a:t>References &amp; Data Sources</a:t>
            </a:r>
          </a:p>
          <a:p>
            <a:r>
              <a:rPr sz="1100">
                <a:solidFill>
                  <a:srgbClr val="64748B"/>
                </a:solidFill>
              </a:rPr>
              <a:t>Academic literature, course syllabi, and public open data repositories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22222"/>
                </a:solidFill>
              </a:rPr>
              <a:t>Academic &amp; Technical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101498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050">
                <a:solidFill>
                  <a:srgbClr val="222222"/>
                </a:solidFill>
              </a:rPr>
              <a:t>1. Course Syllabus &amp; Lab Guidelines: </a:t>
            </a:r>
            <a:r>
              <a:rPr sz="1000">
                <a:solidFill>
                  <a:srgbClr val="64748B"/>
                </a:solidFill>
              </a:rPr>
              <a:t>23CSE351 — Foundations of Data Science (FODS), Department of Computer Science &amp; Engineering. Lab Evaluation 1 &amp; Final Case Study Rubrics.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22222"/>
                </a:solidFill>
              </a:rPr>
              <a:t>2. Primary Open Dataset: </a:t>
            </a:r>
            <a:r>
              <a:rPr sz="1000">
                <a:solidFill>
                  <a:srgbClr val="64748B"/>
                </a:solidFill>
              </a:rPr>
              <a:t>Inside Airbnb: NYC Airbnb Open Data (2019). Available via Inside Airbnb Archives: http://insideairbnb.com/get-the-data/ and Alexey Grigorev Dataset Repository.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22222"/>
                </a:solidFill>
              </a:rPr>
              <a:t>3. Statistical Data Science: </a:t>
            </a:r>
            <a:r>
              <a:rPr sz="1000">
                <a:solidFill>
                  <a:srgbClr val="64748B"/>
                </a:solidFill>
              </a:rPr>
              <a:t>McKinney, W. (2022). Python for Data Analysis: Data Wrangling with pandas, NumPy, and Jupyter (3rd ed.). O'Reilly Media.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22222"/>
                </a:solidFill>
              </a:rPr>
              <a:t>4. Engineering Statistics &amp; Probability: </a:t>
            </a:r>
            <a:r>
              <a:rPr sz="1000">
                <a:solidFill>
                  <a:srgbClr val="64748B"/>
                </a:solidFill>
              </a:rPr>
              <a:t>Montgomery, D. C., &amp; Runger, G. C. (2018). Applied Statistics and Probability for Engineers (7th ed.). John Wiley &amp; Sons.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22222"/>
                </a:solidFill>
              </a:rPr>
              <a:t>5. Machine Learning &amp; Statistical Learning: </a:t>
            </a:r>
            <a:r>
              <a:rPr sz="1000">
                <a:solidFill>
                  <a:srgbClr val="64748B"/>
                </a:solidFill>
              </a:rPr>
              <a:t>Hastie, T., Tibshirani, R., &amp; Friedman, J. (2009). The Elements of Statistical Learning: Data Mining, Inference, and Prediction (2nd ed.). Springer.</a:t>
            </a:r>
          </a:p>
          <a:p>
            <a:pPr>
              <a:spcAft>
                <a:spcPts val="800"/>
              </a:spcAft>
            </a:pPr>
            <a:r>
              <a:rPr b="1" sz="1050">
                <a:solidFill>
                  <a:srgbClr val="222222"/>
                </a:solidFill>
              </a:rPr>
              <a:t>6. Full-Stack Web Technologies: </a:t>
            </a:r>
            <a:r>
              <a:rPr sz="1000">
                <a:solidFill>
                  <a:srgbClr val="64748B"/>
                </a:solidFill>
              </a:rPr>
              <a:t>React 19 Documentation (Meta Open Source) and Flask 3.0 API Development Standards.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